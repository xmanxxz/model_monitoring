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70" dirty="0">
                <a:solidFill>
                  <a:srgbClr val="79D4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 /  PORTFOLIO INSIGHTS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9808" y="1508760"/>
            <a:ext cx="1005840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Financial Stress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Charge-Off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5D8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accounts charged off by 30 Sep 2026 looked like before and after the 01 Jul 2024 CLD snapshot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" y="4983480"/>
            <a:ext cx="10405872" cy="0"/>
          </a:xfrm>
          <a:prstGeom prst="line">
            <a:avLst/>
          </a:prstGeom>
          <a:noFill/>
          <a:ln w="12700">
            <a:solidFill>
              <a:srgbClr val="4B6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340096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8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briefing  |  Retrospective cohort  |  Restricted – 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 | the risk was building before the snapshot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100584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– Internal   |   Snapshot: 01 Jul 2024   |   Outcomes through 30 Sep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9344"/>
            <a:ext cx="5440680" cy="1591056"/>
          </a:xfrm>
          <a:prstGeom prst="roundRect">
            <a:avLst>
              <a:gd name="adj" fmla="val 6897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9344"/>
            <a:ext cx="64008" cy="1591056"/>
          </a:xfrm>
          <a:prstGeom prst="rect">
            <a:avLst/>
          </a:prstGeom>
          <a:solidFill>
            <a:srgbClr val="CF5660"/>
          </a:solidFill>
          <a:ln w="6350">
            <a:solidFill>
              <a:srgbClr val="CF56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9222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Deteriorating affordability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49834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Interest increased ~4.3× and payment coverage fell from ~85% to ~57% before the snapshot.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609344"/>
            <a:ext cx="5440680" cy="1591056"/>
          </a:xfrm>
          <a:prstGeom prst="roundRect">
            <a:avLst>
              <a:gd name="adj" fmla="val 6897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609344"/>
            <a:ext cx="64008" cy="1591056"/>
          </a:xfrm>
          <a:prstGeom prst="rect">
            <a:avLst/>
          </a:prstGeom>
          <a:solidFill>
            <a:srgbClr val="E5A23B"/>
          </a:solidFill>
          <a:ln w="6350">
            <a:solidFill>
              <a:srgbClr val="E5A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79222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Multiple sources of spending pressure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8232" y="2359152"/>
            <a:ext cx="49834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Discretionary travel / timeshares and less-deferrable medical, auto and tax bills both appeared.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5440680" cy="1591056"/>
          </a:xfrm>
          <a:prstGeom prst="roundRect">
            <a:avLst>
              <a:gd name="adj" fmla="val 6897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6432"/>
            <a:ext cx="64008" cy="1591056"/>
          </a:xfrm>
          <a:prstGeom prst="rect">
            <a:avLst/>
          </a:prstGeom>
          <a:solidFill>
            <a:srgbClr val="1174AA"/>
          </a:solidFill>
          <a:ln w="6350">
            <a:solidFill>
              <a:srgbClr val="117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39312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Stress surfaced after the snapshot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49834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declined sharply, while interest and late fees accumulated; late fees peaked in 2025 Q1.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9632" y="3456432"/>
            <a:ext cx="5440680" cy="1591056"/>
          </a:xfrm>
          <a:prstGeom prst="roundRect">
            <a:avLst>
              <a:gd name="adj" fmla="val 6897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3456432"/>
            <a:ext cx="64008" cy="1591056"/>
          </a:xfrm>
          <a:prstGeom prst="rect">
            <a:avLst/>
          </a:prstGeom>
          <a:solidFill>
            <a:srgbClr val="258D78"/>
          </a:solidFill>
          <a:ln w="6350">
            <a:solidFill>
              <a:srgbClr val="258D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3639312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Charge-offs followed with a lag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28232" y="4206240"/>
            <a:ext cx="49834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debit-adjustment postings peaked in 2025 Q2 (1,512 accounts).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91672" cy="603504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458968"/>
            <a:ext cx="1060704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implication   Prioritize trajectory-based early warning signals over a single merchant category.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Retrospective descriptive association, not proof of individual causal drivers.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frame | distinguish early signals from realized outcomes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100584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– Internal   |   Snapshot: 01 Jul 2024   |   Outcomes through 30 Sep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56232"/>
            <a:ext cx="4114800" cy="12984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856232"/>
            <a:ext cx="2066544" cy="1298448"/>
          </a:xfrm>
          <a:prstGeom prst="rect">
            <a:avLst/>
          </a:prstGeom>
          <a:solidFill>
            <a:srgbClr val="E5F6F7"/>
          </a:solidFill>
          <a:ln w="6350">
            <a:solidFill>
              <a:srgbClr val="E5F6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21424" y="1856232"/>
            <a:ext cx="4718304" cy="12984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7510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PRE-SNAPSHOT OBSERVATION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86584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 Q3 – 2024 Q2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837176" y="213969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JUL 2024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50024" y="1975104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POST-SNAPSHOT OUTCOME WINDOW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50024" y="2386584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Q3 – 2026 Q3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1188720" y="3502152"/>
            <a:ext cx="9875520" cy="0"/>
          </a:xfrm>
          <a:prstGeom prst="line">
            <a:avLst/>
          </a:prstGeom>
          <a:noFill/>
          <a:ln w="38100">
            <a:solidFill>
              <a:srgbClr val="12A6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140" y="3433572"/>
            <a:ext cx="137160" cy="137160"/>
          </a:xfrm>
          <a:prstGeom prst="ellipse">
            <a:avLst/>
          </a:prstGeom>
          <a:solidFill>
            <a:srgbClr val="12A6B8"/>
          </a:solidFill>
          <a:ln w="12700">
            <a:solidFill>
              <a:srgbClr val="12A6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9572" y="3433572"/>
            <a:ext cx="137160" cy="137160"/>
          </a:xfrm>
          <a:prstGeom prst="ellipse">
            <a:avLst/>
          </a:prstGeom>
          <a:solidFill>
            <a:srgbClr val="12A6B8"/>
          </a:solidFill>
          <a:ln w="12700">
            <a:solidFill>
              <a:srgbClr val="12A6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95660" y="3433572"/>
            <a:ext cx="137160" cy="137160"/>
          </a:xfrm>
          <a:prstGeom prst="ellipse">
            <a:avLst/>
          </a:prstGeom>
          <a:solidFill>
            <a:srgbClr val="12A6B8"/>
          </a:solidFill>
          <a:ln w="12700">
            <a:solidFill>
              <a:srgbClr val="12A6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67912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Behaviors: spend, payment, interest,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fees, NSF and merchants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919472" y="384048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CLD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867912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stress evolution, late fees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charge-off postings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" y="5321808"/>
            <a:ext cx="10881360" cy="576072"/>
          </a:xfrm>
          <a:prstGeom prst="rect">
            <a:avLst/>
          </a:prstGeom>
          <a:solidFill>
            <a:srgbClr val="102D48"/>
          </a:solidFill>
          <a:ln w="6350">
            <a:solidFill>
              <a:srgbClr val="102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5404104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Population: accounts observed to charge off by 30 Sep 2026; no non-charge-off control group shown.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snapshot | the capacity to keep up was weakening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100584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– Internal   |   Snapshot: 01 Jul 2024   |   Outcomes through 30 Sep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2763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46504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F5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4.3×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2322576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Interest charged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60904"/>
            <a:ext cx="3154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$0.38M → $1.65M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62763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746504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5A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7.6×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526280" y="2322576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Late-fee events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660904"/>
            <a:ext cx="3154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667 → 5,062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162763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746504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26.5×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229600" y="2322576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NSF events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660904"/>
            <a:ext cx="3154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→ 451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401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covered a shrinking portion of new spend plus interest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3941064"/>
            <a:ext cx="10762488" cy="301752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941064"/>
            <a:ext cx="9144000" cy="301752"/>
          </a:xfrm>
          <a:prstGeom prst="rect">
            <a:avLst/>
          </a:prstGeom>
          <a:solidFill>
            <a:srgbClr val="258D78"/>
          </a:solidFill>
          <a:ln w="6350">
            <a:solidFill>
              <a:srgbClr val="258D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7083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8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~85%  |  2021 Q3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4873752"/>
            <a:ext cx="10762488" cy="301752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873752"/>
            <a:ext cx="6135624" cy="301752"/>
          </a:xfrm>
          <a:prstGeom prst="rect">
            <a:avLst/>
          </a:prstGeom>
          <a:solidFill>
            <a:srgbClr val="E5A23B"/>
          </a:solidFill>
          <a:ln w="6350">
            <a:solidFill>
              <a:srgbClr val="E5A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3035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A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~57%  |  2024 Q2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598017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= payments / (merchant spend + interest); cohort composition grew from 2,561 to 6,747 active accounts over the broader period.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snapshot | new spending collapsed, delinquency costs persisted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100584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– Internal   |   Snapshot: 01 Jul 2024   |   Outcomes through 30 Sep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227832" cy="544068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83080"/>
            <a:ext cx="30449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1737360"/>
            <a:ext cx="2404872" cy="544068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5928" y="1783080"/>
            <a:ext cx="222199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 Q3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2450592" cy="544068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783080"/>
            <a:ext cx="226771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Q2 (pre)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1737360"/>
            <a:ext cx="2770632" cy="544068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7968" y="1783080"/>
            <a:ext cx="25877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Q1 (post)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304288"/>
            <a:ext cx="322783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350008"/>
            <a:ext cx="30449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spend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3886200" y="2304288"/>
            <a:ext cx="240487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95928" y="2350008"/>
            <a:ext cx="222199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$3.98M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309360" y="2304288"/>
            <a:ext cx="245059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2350008"/>
            <a:ext cx="226771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$6.03M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778240" y="2304288"/>
            <a:ext cx="277063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87968" y="2350008"/>
            <a:ext cx="25877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$1.42M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40080" y="2871216"/>
            <a:ext cx="3227832" cy="5440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2916936"/>
            <a:ext cx="30449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3886200" y="2871216"/>
            <a:ext cx="2404872" cy="5440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95928" y="2916936"/>
            <a:ext cx="222199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$3.70M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309360" y="2871216"/>
            <a:ext cx="2450592" cy="5440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2916936"/>
            <a:ext cx="226771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$4.41M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778240" y="2871216"/>
            <a:ext cx="2770632" cy="5440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87968" y="2916936"/>
            <a:ext cx="25877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$2.73M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40080" y="3438144"/>
            <a:ext cx="322783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3483864"/>
            <a:ext cx="30449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Interest charged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3886200" y="3438144"/>
            <a:ext cx="240487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95928" y="3483864"/>
            <a:ext cx="222199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$0.38M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309360" y="3438144"/>
            <a:ext cx="245059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3483864"/>
            <a:ext cx="226771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$1.65M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8778240" y="3438144"/>
            <a:ext cx="277063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87968" y="3483864"/>
            <a:ext cx="25877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$1.92M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640080" y="4005072"/>
            <a:ext cx="3227832" cy="5440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4050792"/>
            <a:ext cx="30449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Late-fee events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3886200" y="4005072"/>
            <a:ext cx="2404872" cy="5440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95928" y="4050792"/>
            <a:ext cx="222199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667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6309360" y="4005072"/>
            <a:ext cx="2450592" cy="5440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4050792"/>
            <a:ext cx="226771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5,062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8778240" y="4005072"/>
            <a:ext cx="2770632" cy="5440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87968" y="4050792"/>
            <a:ext cx="25877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11,763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640080" y="4572000"/>
            <a:ext cx="322783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4617720"/>
            <a:ext cx="30449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NSF events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3886200" y="4572000"/>
            <a:ext cx="240487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95928" y="4617720"/>
            <a:ext cx="222199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6309360" y="4572000"/>
            <a:ext cx="245059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9088" y="4617720"/>
            <a:ext cx="226771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451</a:t>
            </a:r>
            <a:endParaRPr lang="en-US" sz="1120" dirty="0"/>
          </a:p>
        </p:txBody>
      </p:sp>
      <p:sp>
        <p:nvSpPr>
          <p:cNvPr id="54" name="Shape 52"/>
          <p:cNvSpPr/>
          <p:nvPr/>
        </p:nvSpPr>
        <p:spPr>
          <a:xfrm>
            <a:off x="8778240" y="4572000"/>
            <a:ext cx="2770632" cy="54406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87968" y="4617720"/>
            <a:ext cx="258775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747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694944" y="5385816"/>
            <a:ext cx="10789920" cy="603504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688" y="5504688"/>
            <a:ext cx="10241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posting peak: 2025 Q2  |  1,512 accounts (DEBIT ADJUSTMENT)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594360" y="6135624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2025 Q1 late-fee peak and 2025 Q2 charge-off posting peak are sequential cohort-level observations.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drivers | discretionary commitments and unavoidable shocks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100584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– Internal   |   Snapshot: 01 Jul 2024   |   Outcomes through 30 Sep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82496"/>
            <a:ext cx="3337560" cy="608076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28216"/>
            <a:ext cx="3154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PRE-PERIOD CATEGORY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95928" y="1682496"/>
            <a:ext cx="1499616" cy="608076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05656" y="1728216"/>
            <a:ext cx="13167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13832" y="1682496"/>
            <a:ext cx="1600200" cy="608076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728216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1682496"/>
            <a:ext cx="2368296" cy="608076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1728216"/>
            <a:ext cx="218541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/ ACCOUNT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18904" y="1682496"/>
            <a:ext cx="2029968" cy="608076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1728216"/>
            <a:ext cx="18470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FEE 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313432"/>
            <a:ext cx="3337560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359152"/>
            <a:ext cx="3154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Cruise lines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995928" y="2313432"/>
            <a:ext cx="1499616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05656" y="2359152"/>
            <a:ext cx="13167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569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5513832" y="2313432"/>
            <a:ext cx="1600200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2359152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$1.82M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132320" y="2313432"/>
            <a:ext cx="2368296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2359152"/>
            <a:ext cx="218541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$1,755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9518904" y="2313432"/>
            <a:ext cx="2029968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28632" y="2359152"/>
            <a:ext cx="18470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40080" y="2944368"/>
            <a:ext cx="3337560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990088"/>
            <a:ext cx="3154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Timeshare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3995928" y="2944368"/>
            <a:ext cx="1499616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05656" y="2990088"/>
            <a:ext cx="13167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5513832" y="2944368"/>
            <a:ext cx="1600200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2990088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$1.05M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7132320" y="2944368"/>
            <a:ext cx="2368296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2990088"/>
            <a:ext cx="218541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$1,926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9518904" y="2944368"/>
            <a:ext cx="2029968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28632" y="2990088"/>
            <a:ext cx="18470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78%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640080" y="3575304"/>
            <a:ext cx="3337560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621024"/>
            <a:ext cx="3154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/ dental / cosmetic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3995928" y="3575304"/>
            <a:ext cx="1499616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05656" y="3621024"/>
            <a:ext cx="13167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1,849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5513832" y="3575304"/>
            <a:ext cx="1600200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3621024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$1.46M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7132320" y="3575304"/>
            <a:ext cx="2368296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42048" y="3621024"/>
            <a:ext cx="218541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$250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9518904" y="3575304"/>
            <a:ext cx="2029968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28632" y="3621024"/>
            <a:ext cx="18470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74%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640080" y="4206240"/>
            <a:ext cx="3337560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4251960"/>
            <a:ext cx="3154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repair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3995928" y="4206240"/>
            <a:ext cx="1499616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05656" y="4251960"/>
            <a:ext cx="13167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1,084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5513832" y="4206240"/>
            <a:ext cx="1600200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4251960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$1.05M</a:t>
            </a:r>
            <a:endParaRPr lang="en-US" sz="1120" dirty="0"/>
          </a:p>
        </p:txBody>
      </p:sp>
      <p:sp>
        <p:nvSpPr>
          <p:cNvPr id="54" name="Shape 52"/>
          <p:cNvSpPr/>
          <p:nvPr/>
        </p:nvSpPr>
        <p:spPr>
          <a:xfrm>
            <a:off x="7132320" y="4206240"/>
            <a:ext cx="2368296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42048" y="4251960"/>
            <a:ext cx="218541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$386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9518904" y="4206240"/>
            <a:ext cx="2029968" cy="6080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28632" y="4251960"/>
            <a:ext cx="18470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74%</a:t>
            </a:r>
            <a:endParaRPr lang="en-US" sz="1120" dirty="0"/>
          </a:p>
        </p:txBody>
      </p:sp>
      <p:sp>
        <p:nvSpPr>
          <p:cNvPr id="58" name="Shape 56"/>
          <p:cNvSpPr/>
          <p:nvPr/>
        </p:nvSpPr>
        <p:spPr>
          <a:xfrm>
            <a:off x="640080" y="4837176"/>
            <a:ext cx="3337560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882896"/>
            <a:ext cx="31546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IRS / tax payments</a:t>
            </a:r>
            <a:endParaRPr lang="en-US" sz="1120" dirty="0"/>
          </a:p>
        </p:txBody>
      </p:sp>
      <p:sp>
        <p:nvSpPr>
          <p:cNvPr id="60" name="Shape 58"/>
          <p:cNvSpPr/>
          <p:nvPr/>
        </p:nvSpPr>
        <p:spPr>
          <a:xfrm>
            <a:off x="3995928" y="4837176"/>
            <a:ext cx="1499616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05656" y="4882896"/>
            <a:ext cx="13167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225</a:t>
            </a:r>
            <a:endParaRPr lang="en-US" sz="1120" dirty="0"/>
          </a:p>
        </p:txBody>
      </p:sp>
      <p:sp>
        <p:nvSpPr>
          <p:cNvPr id="62" name="Shape 60"/>
          <p:cNvSpPr/>
          <p:nvPr/>
        </p:nvSpPr>
        <p:spPr>
          <a:xfrm>
            <a:off x="5513832" y="4837176"/>
            <a:ext cx="1600200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23560" y="4882896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$0.42M</a:t>
            </a:r>
            <a:endParaRPr lang="en-US" sz="1120" dirty="0"/>
          </a:p>
        </p:txBody>
      </p:sp>
      <p:sp>
        <p:nvSpPr>
          <p:cNvPr id="64" name="Shape 62"/>
          <p:cNvSpPr/>
          <p:nvPr/>
        </p:nvSpPr>
        <p:spPr>
          <a:xfrm>
            <a:off x="7132320" y="4837176"/>
            <a:ext cx="2368296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42048" y="4882896"/>
            <a:ext cx="218541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$865</a:t>
            </a:r>
            <a:endParaRPr lang="en-US" sz="1120" dirty="0"/>
          </a:p>
        </p:txBody>
      </p:sp>
      <p:sp>
        <p:nvSpPr>
          <p:cNvPr id="66" name="Shape 64"/>
          <p:cNvSpPr/>
          <p:nvPr/>
        </p:nvSpPr>
        <p:spPr>
          <a:xfrm>
            <a:off x="9518904" y="4837176"/>
            <a:ext cx="2029968" cy="608076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28632" y="4882896"/>
            <a:ext cx="18470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69%</a:t>
            </a:r>
            <a:endParaRPr lang="en-US" sz="1120" dirty="0"/>
          </a:p>
        </p:txBody>
      </p:sp>
      <p:sp>
        <p:nvSpPr>
          <p:cNvPr id="68" name="Shape 66"/>
          <p:cNvSpPr/>
          <p:nvPr/>
        </p:nvSpPr>
        <p:spPr>
          <a:xfrm>
            <a:off x="658368" y="5532120"/>
            <a:ext cx="10917936" cy="548640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7824" y="5632704"/>
            <a:ext cx="10469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sizable recurring / optional purchases coexisted with lumpy, harder-to-postpone expenses.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594360" y="619048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group overlaps may occur; values are not additive to a unique portfolio total.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pressure points | concentrated, but not universal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100584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– Internal   |   Snapshot: 01 Jul 2024   |   Outcomes through 30 Sep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755648"/>
            <a:ext cx="3456432" cy="726948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01368"/>
            <a:ext cx="3273552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PRE-PERIOD CATEGORY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755648"/>
            <a:ext cx="1719072" cy="726948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1801368"/>
            <a:ext cx="1536192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755648"/>
            <a:ext cx="1837944" cy="726948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801368"/>
            <a:ext cx="1655064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99832" y="1755648"/>
            <a:ext cx="2249424" cy="726948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801368"/>
            <a:ext cx="2066544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/ ACCOUNT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67544" y="1755648"/>
            <a:ext cx="1554480" cy="726948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77272" y="1801368"/>
            <a:ext cx="1371600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FEE 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505456"/>
            <a:ext cx="3456432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551176"/>
            <a:ext cx="3273552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cash / cash-like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206240" y="2505456"/>
            <a:ext cx="1719072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2551176"/>
            <a:ext cx="1536192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563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5943600" y="2505456"/>
            <a:ext cx="1837944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2551176"/>
            <a:ext cx="1655064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$0.80M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799832" y="2505456"/>
            <a:ext cx="2249424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2551176"/>
            <a:ext cx="2066544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$607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10067544" y="2505456"/>
            <a:ext cx="1554480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77272" y="2551176"/>
            <a:ext cx="1371600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66%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31520" y="3255264"/>
            <a:ext cx="3456432" cy="7269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300984"/>
            <a:ext cx="3273552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 dining / nightlife ≥$300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206240" y="3255264"/>
            <a:ext cx="1719072" cy="7269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15968" y="3300984"/>
            <a:ext cx="1536192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444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5943600" y="3255264"/>
            <a:ext cx="1837944" cy="7269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3300984"/>
            <a:ext cx="1655064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$0.52M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7799832" y="3255264"/>
            <a:ext cx="2249424" cy="7269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3300984"/>
            <a:ext cx="2066544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$553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10067544" y="3255264"/>
            <a:ext cx="1554480" cy="7269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77272" y="3300984"/>
            <a:ext cx="1371600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73%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731520" y="4005072"/>
            <a:ext cx="3456432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4050792"/>
            <a:ext cx="3273552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Jewelry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4206240" y="4005072"/>
            <a:ext cx="1719072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15968" y="4050792"/>
            <a:ext cx="1536192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581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5943600" y="4005072"/>
            <a:ext cx="1837944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53328" y="4050792"/>
            <a:ext cx="1655064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$0.41M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7799832" y="4005072"/>
            <a:ext cx="2249424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4050792"/>
            <a:ext cx="2066544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$176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10067544" y="4005072"/>
            <a:ext cx="1554480" cy="726948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77272" y="4050792"/>
            <a:ext cx="1371600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73%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731520" y="4480560"/>
            <a:ext cx="5276088" cy="1179576"/>
          </a:xfrm>
          <a:prstGeom prst="roundRect">
            <a:avLst>
              <a:gd name="adj" fmla="val 9302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4480560"/>
            <a:ext cx="64008" cy="1179576"/>
          </a:xfrm>
          <a:prstGeom prst="rect">
            <a:avLst/>
          </a:prstGeom>
          <a:solidFill>
            <a:srgbClr val="CF5660"/>
          </a:solidFill>
          <a:ln w="6350">
            <a:solidFill>
              <a:srgbClr val="CF56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4663440"/>
            <a:ext cx="4818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60120" y="5230368"/>
            <a:ext cx="4818888" cy="246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High-dollar behavior ≠ evidence of causality.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208776" y="4480560"/>
            <a:ext cx="5248656" cy="1179576"/>
          </a:xfrm>
          <a:prstGeom prst="roundRect">
            <a:avLst>
              <a:gd name="adj" fmla="val 9302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08776" y="4480560"/>
            <a:ext cx="64008" cy="1179576"/>
          </a:xfrm>
          <a:prstGeom prst="rect">
            <a:avLst/>
          </a:prstGeom>
          <a:solidFill>
            <a:srgbClr val="1174AA"/>
          </a:solidFill>
          <a:ln w="6350">
            <a:solidFill>
              <a:srgbClr val="1174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37376" y="466344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concentration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37376" y="5230368"/>
            <a:ext cx="4791456" cy="246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Gambling-related activity affects fewer accounts.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94360" y="6016752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merchants include casino ATMs, E11EVEN, Stadium Swim, STK, Cartier and Helzberg Diamonds.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observed patterns | different pathways to repayment stress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100584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– Internal   |   Snapshot: 01 Jul 2024   |   Outcomes through 30 Sep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349240" cy="1581912"/>
          </a:xfrm>
          <a:prstGeom prst="roundRect">
            <a:avLst>
              <a:gd name="adj" fmla="val 6936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64008" cy="1581912"/>
          </a:xfrm>
          <a:prstGeom prst="rect">
            <a:avLst/>
          </a:prstGeom>
          <a:solidFill>
            <a:srgbClr val="1174AA"/>
          </a:solidFill>
          <a:ln w="6350">
            <a:solidFill>
              <a:srgbClr val="117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7452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Vacation-driven commitments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441448"/>
            <a:ext cx="4892040" cy="6492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Cruises, timeshares, JetBlue Vacations; some repeat or entail ongoing annual obligations.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49240" cy="1581912"/>
          </a:xfrm>
          <a:prstGeom prst="roundRect">
            <a:avLst>
              <a:gd name="adj" fmla="val 6936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91640"/>
            <a:ext cx="64008" cy="1581912"/>
          </a:xfrm>
          <a:prstGeom prst="rect">
            <a:avLst/>
          </a:prstGeom>
          <a:solidFill>
            <a:srgbClr val="E5A23B"/>
          </a:solidFill>
          <a:ln w="6350">
            <a:solidFill>
              <a:srgbClr val="E5A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7452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unexpected bills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441448"/>
            <a:ext cx="4892040" cy="6492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Medical, auto repair, taxes; expenses may be difficult to defer.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5349240" cy="1581912"/>
          </a:xfrm>
          <a:prstGeom prst="roundRect">
            <a:avLst>
              <a:gd name="adj" fmla="val 6936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47872"/>
            <a:ext cx="64008" cy="1581912"/>
          </a:xfrm>
          <a:prstGeom prst="rect">
            <a:avLst/>
          </a:prstGeom>
          <a:solidFill>
            <a:srgbClr val="CF5660"/>
          </a:solidFill>
          <a:ln w="6350">
            <a:solidFill>
              <a:srgbClr val="CF56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3075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High-ticket leisure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4892040" cy="6492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Gambling, social casinos, nightlife and high-end dining; spend concentrated in fewer accounts.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547872"/>
            <a:ext cx="5349240" cy="1581912"/>
          </a:xfrm>
          <a:prstGeom prst="roundRect">
            <a:avLst>
              <a:gd name="adj" fmla="val 6936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547872"/>
            <a:ext cx="64008" cy="1581912"/>
          </a:xfrm>
          <a:prstGeom prst="rect">
            <a:avLst/>
          </a:prstGeom>
          <a:solidFill>
            <a:srgbClr val="258D78"/>
          </a:solidFill>
          <a:ln w="6350">
            <a:solidFill>
              <a:srgbClr val="258D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3075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cash-flow stress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4892040" cy="6492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BNPL, credit repair subscriptions and cash withdrawal activity may signal stress.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600760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qualitative analytic segments, not validated mutually exclusive customer clusters.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cases | extremes reveal heterogeneity, not typicality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100584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– Internal   |   Snapshot: 01 Jul 2024   |   Outcomes through 30 Sep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5221224" cy="1499616"/>
          </a:xfrm>
          <a:prstGeom prst="roundRect">
            <a:avLst>
              <a:gd name="adj" fmla="val 7317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64208"/>
            <a:ext cx="64008" cy="1499616"/>
          </a:xfrm>
          <a:prstGeom prst="rect">
            <a:avLst/>
          </a:prstGeom>
          <a:solidFill>
            <a:srgbClr val="E5A23B"/>
          </a:solidFill>
          <a:ln w="6350">
            <a:solidFill>
              <a:srgbClr val="E5A2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847088"/>
            <a:ext cx="47640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Collectibles / trading cards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414016"/>
            <a:ext cx="476402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$140.6K by one account across 76 transactions over two years; largest transaction $7.2K.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64208"/>
            <a:ext cx="5276088" cy="1499616"/>
          </a:xfrm>
          <a:prstGeom prst="roundRect">
            <a:avLst>
              <a:gd name="adj" fmla="val 7317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64208"/>
            <a:ext cx="64008" cy="1499616"/>
          </a:xfrm>
          <a:prstGeom prst="rect">
            <a:avLst/>
          </a:prstGeom>
          <a:solidFill>
            <a:srgbClr val="1174AA"/>
          </a:solidFill>
          <a:ln w="6350">
            <a:solidFill>
              <a:srgbClr val="117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47088"/>
            <a:ext cx="4818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/ county tax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414016"/>
            <a:ext cx="4818888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account paid $90K to Wayne County Treasurer.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447288"/>
            <a:ext cx="10716768" cy="1527048"/>
          </a:xfrm>
          <a:prstGeom prst="roundRect">
            <a:avLst>
              <a:gd name="adj" fmla="val 7186"/>
            </a:avLst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47288"/>
            <a:ext cx="64008" cy="1527048"/>
          </a:xfrm>
          <a:prstGeom prst="rect">
            <a:avLst/>
          </a:prstGeom>
          <a:solidFill>
            <a:srgbClr val="258D78"/>
          </a:solidFill>
          <a:ln w="6350">
            <a:solidFill>
              <a:srgbClr val="258D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630168"/>
            <a:ext cx="102595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Apparel acceleration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197096"/>
            <a:ext cx="1025956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Navy / Gap aggregate spend rose from ~$118K in 2021–22 to ~$933K during the last 12 months before snapshot (~8×); account growth contributed.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5376672"/>
            <a:ext cx="10698480" cy="594360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5477256"/>
            <a:ext cx="10241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Anecdotes are useful for hypothesis generation but cannot establish cohort-wide root causes.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6B8"/>
          </a:solidFill>
          <a:ln w="6350">
            <a:solidFill>
              <a:srgbClr val="12A6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17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CHARGE-OFF 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0408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| reference merchant detail and review questions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100584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– Internal   |   Snapshot: 01 Jul 2024   |   Outcomes through 30 Sep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673352"/>
            <a:ext cx="5285232" cy="525780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719072"/>
            <a:ext cx="510235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MERCHANTS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61888" y="1673352"/>
            <a:ext cx="5559552" cy="525780"/>
          </a:xfrm>
          <a:prstGeom prst="rect">
            <a:avLst/>
          </a:prstGeom>
          <a:solidFill>
            <a:srgbClr val="071E34"/>
          </a:solidFill>
          <a:ln w="6350">
            <a:solidFill>
              <a:srgbClr val="071E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1719072"/>
            <a:ext cx="537667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221992"/>
            <a:ext cx="5285232" cy="525780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267712"/>
            <a:ext cx="510235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Carnival / Royal Caribbean / Holland America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961888" y="2221992"/>
            <a:ext cx="5559552" cy="525780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2267712"/>
            <a:ext cx="537667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Cruise lines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58368" y="2770632"/>
            <a:ext cx="5285232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16352"/>
            <a:ext cx="510235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Wyndham Vacation Owners / Club Wyndham / Bluegreen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961888" y="2770632"/>
            <a:ext cx="5559552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2816352"/>
            <a:ext cx="537667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Timeshare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3319272"/>
            <a:ext cx="5285232" cy="525780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64992"/>
            <a:ext cx="510235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JetBlue Vacations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5961888" y="3319272"/>
            <a:ext cx="5559552" cy="525780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3364992"/>
            <a:ext cx="537667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Vacation / travel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58368" y="3867912"/>
            <a:ext cx="5285232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3913632"/>
            <a:ext cx="510235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GEICO Auto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961888" y="3867912"/>
            <a:ext cx="5559552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3913632"/>
            <a:ext cx="537667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/ auto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58368" y="4416552"/>
            <a:ext cx="5285232" cy="525780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462272"/>
            <a:ext cx="510235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Everi, Bank of America, Chase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5961888" y="4416552"/>
            <a:ext cx="5559552" cy="525780"/>
          </a:xfrm>
          <a:prstGeom prst="rect">
            <a:avLst/>
          </a:prstGeom>
          <a:solidFill>
            <a:srgbClr val="F2F6F9"/>
          </a:solidFill>
          <a:ln w="6350">
            <a:solidFill>
              <a:srgbClr val="F2F6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4462272"/>
            <a:ext cx="537667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and cash withdrawal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58368" y="4965192"/>
            <a:ext cx="5285232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5010912"/>
            <a:ext cx="510235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 Dental / plastic surgery / body sculpting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5961888" y="4965192"/>
            <a:ext cx="5559552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1616" y="5010912"/>
            <a:ext cx="5376672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/ cosmetic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758952" y="539496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for leadership decision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58952" y="5788152"/>
            <a:ext cx="10607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2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the quarterly gross and net charge-off dollars, by vintage, balance band, and intervention / line-management status?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5731</Words>
  <Application>WPS Presentation</Application>
  <PresentationFormat>On-screen Show (16:9)</PresentationFormat>
  <Paragraphs>378</Paragraphs>
  <Slides>10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Aptos</vt:lpstr>
      <vt:lpstr>Segoe UI</vt:lpstr>
      <vt:lpstr>Aptos</vt:lpstr>
      <vt:lpstr>Aptos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Financial Stress to Charge-Off</dc:title>
  <dc:creator>Credit Risk Analytics</dc:creator>
  <dc:subject>Retrospective analysis of charge-off accounts</dc:subject>
  <cp:lastModifiedBy>Xianz</cp:lastModifiedBy>
  <cp:revision>3</cp:revision>
  <dcterms:created xsi:type="dcterms:W3CDTF">2026-10-26T14:40:00Z</dcterms:created>
  <dcterms:modified xsi:type="dcterms:W3CDTF">2026-10-26T14:44:08Z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38AD982637AD481DBB49C4BA06C46187_12</vt:lpwstr>
  </property>
  <property fmtid="{D5CDD505-2E9C-101B-9397-08002B2CF9AE}" pid="3" name="KSOProductBuildVer">
    <vt:lpwstr>1033-12.1.0.29162</vt:lpwstr>
  </property>
</Properties>
</file>
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667E8B"/>
              </a:solidFill>
              <a:ln>
                <a:noFill/>
              </a:ln>
            </c:spPr>
          </c:dPt>
          <c:dPt>
            <c:idx val="1"/>
            <c:spPr>
              <a:solidFill>
                <a:srgbClr val="667E8B"/>
              </a:solidFill>
              <a:ln>
                <a:noFill/>
              </a:ln>
            </c:spPr>
          </c:dPt>
          <c:dPt>
            <c:idx val="2"/>
            <c:spPr>
              <a:solidFill>
                <a:srgbClr val="667E8B"/>
              </a:solidFill>
              <a:ln>
                <a:noFill/>
              </a:ln>
            </c:spPr>
          </c:dPt>
          <c:dPt>
            <c:idx val="3"/>
            <c:spPr>
              <a:solidFill>
                <a:srgbClr val="C01F2C"/>
              </a:solidFill>
              <a:ln>
                <a:noFill/>
              </a:ln>
            </c:spPr>
          </c:dPt>
          <c:dPt>
            <c:idx val="4"/>
            <c:spPr>
              <a:solidFill>
                <a:srgbClr val="667E8B"/>
              </a:solidFill>
              <a:ln>
                <a:noFill/>
              </a:ln>
            </c:spPr>
          </c:dPt>
          <c:dPt>
            <c:idx val="5"/>
            <c:spPr>
              <a:solidFill>
                <a:srgbClr val="667E8B"/>
              </a:solidFill>
              <a:ln>
                <a:noFill/>
              </a:ln>
            </c:spPr>
          </c:dPt>
          <c:dPt>
            <c:idx val="6"/>
            <c:spPr>
              <a:solidFill>
                <a:srgbClr val="667E8B"/>
              </a:solidFill>
              <a:ln>
                <a:noFill/>
              </a:ln>
            </c:spPr>
          </c:dPt>
          <c:dPt>
            <c:idx val="7"/>
            <c:spPr>
              <a:solidFill>
                <a:srgbClr val="667E8B"/>
              </a:solidFill>
              <a:ln>
                <a:noFill/>
              </a:ln>
            </c:spPr>
          </c:dPt>
          <c:dPt>
            <c:idx val="8"/>
            <c:spPr>
              <a:solidFill>
                <a:srgbClr val="667E8B"/>
              </a:solidFill>
              <a:ln>
                <a:noFill/>
              </a:ln>
            </c:spPr>
          </c:dPt>
          <c:dPt>
            <c:idx val="9"/>
            <c:spPr>
              <a:solidFill>
                <a:srgbClr val="667E8B"/>
              </a:solidFill>
              <a:ln>
                <a:noFill/>
              </a:ln>
            </c:spPr>
          </c:dPt>
          <c:dPt>
            <c:idx val="10"/>
            <c:spPr>
              <a:solidFill>
                <a:srgbClr val="667E8B"/>
              </a:solidFill>
              <a:ln>
                <a:noFill/>
              </a:ln>
            </c:spPr>
          </c:dPt>
          <c:dPt>
            <c:idx val="11"/>
            <c:spPr>
              <a:solidFill>
                <a:srgbClr val="667E8B"/>
              </a:solidFill>
              <a:ln>
                <a:noFill/>
              </a:ln>
            </c:spPr>
          </c:dPt>
          <c:cat>
            <c:strRef>
              <c:f>Sheet1!$A$2:$A$13</c:f>
              <c:strCache>
                <c:ptCount val="12"/>
                <c:pt idx="0">
                  <c:v>AVG_ACCT_BAL_AMT_RECENT_1_6MTH</c:v>
                </c:pt>
                <c:pt idx="1">
                  <c:v>AVG_EOPB_RECENT_1_12MTH</c:v>
                </c:pt>
                <c:pt idx="2">
                  <c:v>MAX_AVG_DLY_BAL_AMT_RECENT_1_6MTH</c:v>
                </c:pt>
                <c:pt idx="3">
                  <c:v>CLD total (main + CLDx_*)</c:v>
                </c:pt>
                <c:pt idx="4">
                  <c:v>MAX_REVL_BAL_AMT_RECENT_1_6MTH</c:v>
                </c:pt>
                <c:pt idx="5">
                  <c:v>MAX_END_OF_PRD_BAL_AMT_RECENT_1_6MTH</c:v>
                </c:pt>
                <c:pt idx="6">
                  <c:v>UTIL_EOPB_RECENT_1MTH</c:v>
                </c:pt>
                <c:pt idx="7">
                  <c:v>SLOPE_REVL_BAL_AMT_RECENT_1_3MTH</c:v>
                </c:pt>
                <c:pt idx="8">
                  <c:v>AVG_PURCH_AMT_RECENT_1MTH</c:v>
                </c:pt>
                <c:pt idx="9">
                  <c:v>SLOPE_END_OF_PRD_BAL_AMT_RECENT_1_3MTH</c:v>
                </c:pt>
                <c:pt idx="10">
                  <c:v>MAX_INTFEES_TXN_AMT_6MTH</c:v>
                </c:pt>
                <c:pt idx="11">
                  <c:v>CLD (main)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0.296</c:v>
                </c:pt>
                <c:pt idx="1">
                  <c:v>0.201</c:v>
                </c:pt>
                <c:pt idx="2">
                  <c:v>0.085</c:v>
                </c:pt>
                <c:pt idx="3">
                  <c:v>0.082</c:v>
                </c:pt>
                <c:pt idx="4">
                  <c:v>0.043</c:v>
                </c:pt>
                <c:pt idx="5">
                  <c:v>0.034</c:v>
                </c:pt>
                <c:pt idx="6">
                  <c:v>0.029</c:v>
                </c:pt>
                <c:pt idx="7">
                  <c:v>0.024</c:v>
                </c:pt>
                <c:pt idx="8">
                  <c:v>0.023</c:v>
                </c:pt>
                <c:pt idx="9">
                  <c:v>0.013</c:v>
                </c:pt>
                <c:pt idx="10">
                  <c:v>0.012</c:v>
                </c:pt>
                <c:pt idx="11">
                  <c:v>0.001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2D353E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2"/>
          <c:min val="0.0"/>
        </c:scaling>
        <c:delete val="0"/>
        <c:axPos val="b"/>
        <c:majorGridlines>
          <c:spPr>
            <a:ln>
              <a:solidFill>
                <a:srgbClr val="E6EA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/>
                </a:pPr>
                <a:r>
                  <a:t>Relative importance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txPr>
          <a:bodyPr/>
          <a:lstStyle/>
          <a:p>
            <a:pPr>
              <a:defRPr sz="1100">
                <a:solidFill>
                  <a:srgbClr val="3C444C"/>
                </a:solidFill>
                <a:latin typeface="Arial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F3A"/>
                </a:solidFill>
                <a:latin typeface="Arial"/>
              </a:defRPr>
            </a:pPr>
            <a:r>
              <a:t>S-learner importance (total gain share)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rial"/>
              </a:defRPr>
            </a:pPr>
            <a:r>
              <a:t>CLD-related feature contribution highlighted in red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30352" y="1188720"/>
          <a:ext cx="1106424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